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开场10秒：一句话定位——反钓鱼训练游戏。三个数字：20个仿真样本、4种直接操纵玩法、0外部依赖（现场可玩、断网可演示）。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六段结构，重点在03玩法与04技术，约占一半时长。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互动开场：请评委猜哪封是钓鱼（停顿5秒）——答案是两封都是。A是长域名伪装（真实域ssl-verify.top），B是个人邮箱+索要密码。引出核心论点：知道≠判断。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定位一句话：不是又一个答题H5，而是可反复、可反馈、可量化的行为训练场。右列三类用户给落地口径。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这是全片的创意总纲：交互范式（直接操纵）×叙事范式（攻防双视角）×反馈范式（风险可视化）。后面每个玩法都是这三条的具体化。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演示时先故意漏一张（超时）展示血条惩罚，再连对三张展示连击倍率。设计动机：限时=复现真实受骗时的时间压力。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讲透教学设计：归类动作本身就是知识结构化——学生不是被告知答案，而是亲手把证据放进它该在的位置。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最大创新点：攻防双视角。滑杆示例：伪装度拉高洗白皮肤特征，但技术特征（仿冒域名）不受影响——玩家在调参中体感理解检测原理。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自由撰写是主观创作入口；安全官是反馈系统。强调零依赖：答辩现场再差的网络也能演示。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回答“科技感怎么来”：不是贴图，而是设计系统+反馈密度——每个操作100ms内必有可感知反馈。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架构三句话：数据逻辑分离（改题不改码）；交互引擎复用；三个后端化预留位意味着这不是玩具，是可生长的工程。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技术深挖第一页：拖拽是本作全部交互的地基。两个真实修复过的缺陷写进去——展示的是工程判断力。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技术深挖第二页：公式可讲解可复现（非黑盒）。设计要点是故意引入不确定性——对抗游戏一旦可穷举就死了。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技术深挖第三页升级：真大模型智能体。强调三件事——任意案例（非固定题库）、flash低价+思考型适配的工程细节、Key安全（混淆+分发不含Key+三层兜底）。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真模型真Key实测两例：一个交易类、一个冒充公检法类——都不是预设案例，模型自由理解。评委现场可扫码随便编一个遭遇验证。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诚实口径：截图为内部试玩数据（N=1），正式前后测进行中、提交前填入。评委追问样本时如实说明方案与进度。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四条与申报书措辞完全一致——评委交叉核对材料时的一致性本身就是加分项。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路径可信最重要：从校内真实场景起步，再到课堂，再开源。不要画大饼。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答辩最容易被追问的一页：如实、具体、有战绩。把修复AI缺陷讲成工程管理能力，而不是遮掩。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收尾话术：欢迎评委扫码现场试玩——作品当场可玩，是完成度的终极证明。团队信息定稿后替换。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/ 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6400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400" kern="0" dirty="0">
                <a:solidFill>
                  <a:srgbClr val="7E8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SHIYU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1417320"/>
            <a:ext cx="12188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spc="10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0" y="274320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6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反钓鱼攻防训练营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3401568"/>
            <a:ext cx="12188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不教结论，练肌肉记忆 —— 把反诈知识变成条件反射的游戏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62656" y="4160520"/>
            <a:ext cx="1965960" cy="1170432"/>
          </a:xfrm>
          <a:prstGeom prst="roundRect">
            <a:avLst>
              <a:gd name="adj" fmla="val 7031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2656" y="426110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962656" y="4846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高仿虚构样本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11496" y="4160520"/>
            <a:ext cx="1965960" cy="1170432"/>
          </a:xfrm>
          <a:prstGeom prst="roundRect">
            <a:avLst>
              <a:gd name="adj" fmla="val 7031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11496" y="426110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111496" y="4846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直接操纵玩法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60336" y="4160520"/>
            <a:ext cx="1965960" cy="1170432"/>
          </a:xfrm>
          <a:prstGeom prst="roundRect">
            <a:avLst>
              <a:gd name="adj" fmla="val 7031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0336" y="4261104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260336" y="4846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外部依赖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0" y="580644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中国大学生数字媒体科技作品及创意竞赛 · 移动与网络应用开发　｜　长春理工大学 · 计算机科学技术学院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0" y="6144768"/>
            <a:ext cx="12188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参赛团队：［队伍名称 / 成员 / 指导教师］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00200" y="149961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创意缘起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663440" y="15544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为什么“知道有诈骗”救不了你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139696"/>
            <a:ext cx="11183112" cy="0"/>
          </a:xfrm>
          <a:prstGeom prst="line">
            <a:avLst/>
          </a:prstGeom>
          <a:noFill/>
          <a:ln w="9525">
            <a:solidFill>
              <a:srgbClr val="1C2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60020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方案定位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2340864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反诈教育的“消防演练场”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11183112" cy="0"/>
          </a:xfrm>
          <a:prstGeom prst="line">
            <a:avLst/>
          </a:prstGeom>
          <a:noFill/>
          <a:ln w="9525">
            <a:solidFill>
              <a:srgbClr val="1C2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54096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600200" y="30723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玩法体验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663440" y="3127248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四种玩法交互 + AI 智能体（研判/问答）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3712464"/>
            <a:ext cx="11183112" cy="0"/>
          </a:xfrm>
          <a:prstGeom prst="line">
            <a:avLst/>
          </a:prstGeom>
          <a:noFill/>
          <a:ln w="9525">
            <a:solidFill>
              <a:srgbClr val="1C2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40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600200" y="3858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创新技术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663440" y="3913632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统一拖拽引擎 · 对抗判定引擎 · 零依赖 AI 角色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2920" y="4498848"/>
            <a:ext cx="11183112" cy="0"/>
          </a:xfrm>
          <a:prstGeom prst="line">
            <a:avLst/>
          </a:prstGeom>
          <a:noFill/>
          <a:ln w="9525">
            <a:solidFill>
              <a:srgbClr val="1C2B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268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00200" y="4645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效果验证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663440" y="4700016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前后测对比与五维风险画像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2920" y="5285232"/>
            <a:ext cx="11183112" cy="0"/>
          </a:xfrm>
          <a:prstGeom prst="line">
            <a:avLst/>
          </a:prstGeom>
          <a:noFill/>
          <a:ln w="9525">
            <a:solidFill>
              <a:srgbClr val="1C2B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4132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600200" y="54315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应用与展望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663440" y="5486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落地路径 · AI 协作工程 · 团队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创意缘起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先来一道现场测试：哪一封是钓鱼邮件？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4F6FA"/>
          </a:solidFill>
          <a:ln w="12700">
            <a:solidFill>
              <a:srgbClr val="C6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27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发件人　</a:t>
            </a:r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教务处 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&lt;jwc@cust-demo.edu.cn&gt;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学业预警通知（补）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39572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因系统升级，部分同学需重新确认学业状态，请通过“统一入口”核验：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http://jwc.cust-demo.edu.cn.ssl-verify.top/login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未确认的科目成绩将按零分记载。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463040"/>
            <a:ext cx="5394960" cy="2834640"/>
          </a:xfrm>
          <a:prstGeom prst="roundRect">
            <a:avLst>
              <a:gd name="adj" fmla="val 2903"/>
            </a:avLst>
          </a:prstGeom>
          <a:solidFill>
            <a:srgbClr val="F4F6FA"/>
          </a:solidFill>
          <a:ln w="12700">
            <a:solidFill>
              <a:srgbClr val="C6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62763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发件人　</a:t>
            </a:r>
            <a:pPr indent="0" marL="0">
              <a:buNone/>
            </a:pPr>
            <a:r>
              <a:rPr lang="en-US" sz="1200" b="1" dirty="0">
                <a:solidFill>
                  <a:srgbClr val="1C25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学生资助中心  </a:t>
            </a:r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&lt;jwc-zizhu@qq.com&gt;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19672" y="19751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5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年秋季助学金申领通知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2395728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请点击下方链接，填写银行卡号、取款密码及短信验证码完成身份核验：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http://zhuxue-buzhu.top/verify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465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逾期未核验视为自动放弃资助资格。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54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两封都是钓鱼——但讲座听过的你，3 秒内敢下判断吗？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80160" y="5074920"/>
            <a:ext cx="96286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反诈教育的真问题：讲座、海报只能传递“知识”，无法训练“判断”。识别钓鱼是一项行为能力——它需要可重复、可反馈、可量化的训练场。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方案定位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反诈教育的“消防演练场”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像消防演练之于火灾：在仿真环境里反复练习判断，错了有 AI 讲解，练完出成绩单。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5760720" cy="804672"/>
          </a:xfrm>
          <a:prstGeom prst="roundRect">
            <a:avLst>
              <a:gd name="adj" fmla="val 1022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87121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29077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四波拦截战 · 前测-训练-后测闭环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703320"/>
            <a:ext cx="5760720" cy="804672"/>
          </a:xfrm>
          <a:prstGeom prst="roundRect">
            <a:avLst>
              <a:gd name="adj" fmla="val 1022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8313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28800" y="386791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蓝军安全官逐条讲评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663440"/>
            <a:ext cx="5760720" cy="804672"/>
          </a:xfrm>
          <a:prstGeom prst="roundRect">
            <a:avLst>
              <a:gd name="adj" fmla="val 1022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79145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量化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28800" y="48280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五维风险画像与段位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720840" y="1554480"/>
            <a:ext cx="4965192" cy="1298448"/>
          </a:xfrm>
          <a:prstGeom prst="roundRect">
            <a:avLst>
              <a:gd name="adj" fmla="val 6338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170078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个人自练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67728" y="2103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宿舍/班级对抗赛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扫码即玩 · 免安装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3035808"/>
            <a:ext cx="4965192" cy="1298448"/>
          </a:xfrm>
          <a:prstGeom prst="roundRect">
            <a:avLst>
              <a:gd name="adj" fmla="val 6338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67728" y="318211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班级演练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67728" y="358444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保卫处/辅导员组织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匿名汇总=演练报告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20840" y="4517136"/>
            <a:ext cx="4965192" cy="1298448"/>
          </a:xfrm>
          <a:prstGeom prst="roundRect">
            <a:avLst>
              <a:gd name="adj" fmla="val 6338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46634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课堂教学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67728" y="506577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网安/AI素养课教具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拆解台即知识结构化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玩法体验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创意设计理念：从“阅卷人”到“局中人”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611880" cy="4343400"/>
          </a:xfrm>
          <a:prstGeom prst="roundRect">
            <a:avLst>
              <a:gd name="adj" fmla="val 2278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直接操纵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判断不再是点选项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拖拽分拣、证物归类、拖卡装配、滑杆调参、自由撰写——全部核心操作都是直接操纵（Direct Manipulation），配合吸附高亮、跟手倾斜、连击弹字与合成音效。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508760"/>
            <a:ext cx="3611880" cy="4343400"/>
          </a:xfrm>
          <a:prstGeom prst="roundRect">
            <a:avLst>
              <a:gd name="adj" fmla="val 2278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99432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攻防双视角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99432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先防守，再进攻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9432" y="3429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拦截战/拆解台训练防守直觉；造浪者实验室让玩家亲手构造钓鱼邮件挑战 AI 防线——在纯沙箱内从攻击者视角反推“为什么这封能骗到人”。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47304" y="1508760"/>
            <a:ext cx="3611880" cy="4343400"/>
          </a:xfrm>
          <a:prstGeom prst="roundRect">
            <a:avLst>
              <a:gd name="adj" fmla="val 2278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17830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21624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风险可视化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21624" y="2944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让“被骗概率”看得见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21624" y="342900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数据完整度血条、连击倍率、检出率仪表、五维雷达——把抽象的安全能力翻译成游戏语言，训练效果可被看见、被比较、被追踪。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玩法体验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玩法一 · 拦截战：拖拽分拣，限时拦截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714232" y="1417320"/>
            <a:ext cx="2338525" cy="4654296"/>
          </a:xfrm>
          <a:prstGeom prst="roundRect">
            <a:avLst>
              <a:gd name="adj" fmla="val 4692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pic>
        <p:nvPicPr>
          <p:cNvPr id="7" name="Image 0" descr="D:/GYY/长春理工/学生竞赛/本科生竞赛/数媒竞赛_识渔计划/preview/game-sor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81328"/>
            <a:ext cx="2210509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6117336"/>
            <a:ext cx="2759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真机界面 · 420×860 视口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65506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8408" y="156362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拖拽分拣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消息卡拖入左侧渔网（钓鱼）或右侧收件箱（正常），投放区高亮吸附、卡片跟手倾斜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02920" y="293522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" y="284378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限时压力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三档难度对应 12/9/7 秒倒计时——用时间压力复现真实受骗情境，超时即“漏网”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02920" y="421538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8408" y="412394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连击与血条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连续正确触发连击倍率与弹字，分拣错误扣减“数据完整度”并震屏警示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02920" y="549554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8408" y="540410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混合出题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每波混入正常样本——“无脑全拖左”必然失败，判断才有意义；触屏/鼠标/键盘三输入等价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玩法体验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玩法二 · 拆解台：把破绽拖回它的类别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714232" y="1417320"/>
            <a:ext cx="2338525" cy="4654296"/>
          </a:xfrm>
          <a:prstGeom prst="roundRect">
            <a:avLst>
              <a:gd name="adj" fmla="val 4692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pic>
        <p:nvPicPr>
          <p:cNvPr id="7" name="Image 0" descr="D:/GYY/长春理工/学生竞赛/本科生竞赛/数媒竞赛_识渔计划/preview/game-disman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81328"/>
            <a:ext cx="2210509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6117336"/>
            <a:ext cx="2759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证物拖入七类破绽槽位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65506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8408" y="156362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证物碎片化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拦下的钓鱼样本被拆解为证物：仿冒域名、短链、二维码、紧迫话术、可疑附件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02920" y="293522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" y="284378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拖拽归类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把证物拖入七类破绽槽位（域名仿冒/链接不符/紧迫话术/利诱钩子/索要信息/附件风险/冒充权威）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02920" y="421538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8408" y="412394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试错即学习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首放命中锁绿计入能力值；放错弹回并提示“不属于该类”——点击证物可查看完整内容取证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02920" y="549554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8408" y="540410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判定与讲解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全部归位后逐条展开每件证物的归属理由，AI 安全官点评最薄弱类别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玩法体验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玩法三 · 造浪者组装实验室：亲手造一封“钓鱼邮件”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714232" y="1417320"/>
            <a:ext cx="2338525" cy="4654296"/>
          </a:xfrm>
          <a:prstGeom prst="roundRect">
            <a:avLst>
              <a:gd name="adj" fmla="val 4692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pic>
        <p:nvPicPr>
          <p:cNvPr id="7" name="Image 0" descr="D:/GYY/长春理工/学生竞赛/本科生竞赛/数媒竞赛_识渔计划/preview/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481328"/>
            <a:ext cx="2210509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0" y="6117336"/>
            <a:ext cx="27591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拖卡装配 + 滑杆调参 + 预测仪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65506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78408" y="156362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拖卡装配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基因卡拖入三个装配槽：拟态皮肤 × 心理机制 × 技术手段（9 张卡组合）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02920" y="293522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2935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78408" y="284378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连续调参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伪装度 / 激进度 / 投放量三根滑杆连续改变检出公式——非线性耦合，无脑拉满必然翻车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02920" y="421538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8408" y="412394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带误差的预测仪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实时预测显示 ±8 误差带，抑制穷举最优解，保留博弈感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502920" y="549554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5495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8408" y="5404104"/>
            <a:ext cx="65653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扫描束结算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投放后“邮件”飞越三条扫描光束，命中的光束炸红，加噪声的真实检出率揭晓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玩法体验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玩法四 · 自由撰写 × AI 蓝军安全官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044952" y="1417320"/>
            <a:ext cx="2182226" cy="4334256"/>
          </a:xfrm>
          <a:prstGeom prst="roundRect">
            <a:avLst>
              <a:gd name="adj" fmla="val 5028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pic>
        <p:nvPicPr>
          <p:cNvPr id="7" name="Image 0" descr="D:/GYY/长春理工/学生竞赛/本科生竞赛/数媒竞赛_识渔计划/preview/attack-f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481328"/>
            <a:ext cx="2054210" cy="42062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34640" y="5797296"/>
            <a:ext cx="2602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自由撰写：命中词实时高亮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85432" y="1417320"/>
            <a:ext cx="2182226" cy="4334256"/>
          </a:xfrm>
          <a:prstGeom prst="roundRect">
            <a:avLst>
              <a:gd name="adj" fmla="val 5028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pic>
        <p:nvPicPr>
          <p:cNvPr id="10" name="Image 1" descr="D:/GYY/长春理工/学生竞赛/本科生竞赛/数媒竞赛_识渔计划/preview/attack-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481328"/>
            <a:ext cx="2054210" cy="4206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75120" y="5797296"/>
            <a:ext cx="26028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安全官逐条讲评 + 快捷追问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02920" y="170078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0292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978408" y="1609344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自由撰写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玩家亲写一封钓鱼邮件，六类规则引擎逐词扫描、原文高亮、判检出率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02920" y="4096512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978408" y="4005072"/>
            <a:ext cx="1993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蓝军安全官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打字机点评 + 语音讲评 + 快捷追问，全程陪伴式反馈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502920" y="539496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零外部依赖：断网可运行、可演示，无 API Key、无网络延迟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创新技术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科技感从哪里来：一套完整的设计系统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524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99032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深色霓虹设计系统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99032" y="235000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背景-主色-强调三级色彩模型贯穿 H5 与本 PPT；深海军蓝 × 信号青 × 警戒红，与“信息安全”语义同构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524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4032" y="18745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动效反馈语言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114032" y="235000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槽位吸附高亮、卡片跟手倾斜、连击弹字、错分震屏、扫描光束炸红——每个操作都有可感知的物理反馈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524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99032" y="3977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程序合成音效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399032" y="445312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WebAudio 实时合成拾取/命中/警报/连击音色，零音频素材文件，体积极小且永不缺资源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703320"/>
            <a:ext cx="5440680" cy="1874520"/>
          </a:xfrm>
          <a:prstGeom prst="roundRect">
            <a:avLst>
              <a:gd name="adj" fmla="val 4390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977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D1524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14032" y="39776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数据可视化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114032" y="4453128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Canvas 手绘五维雷达、检出率仪表、血条与连击——训练效果全程可视化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创新技术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技术架构：数据与逻辑彻底分离的纯前端工程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7315200" cy="932688"/>
          </a:xfrm>
          <a:prstGeom prst="roundRect">
            <a:avLst>
              <a:gd name="adj" fmla="val 8824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73352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167335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Pointer Events 统一拖拽引擎（拦截卡/证物/基因卡三套复用）· 键盘等价输入 · 槽位坐标命中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15184"/>
            <a:ext cx="7315200" cy="932688"/>
          </a:xfrm>
          <a:prstGeom prst="roundRect">
            <a:avLst>
              <a:gd name="adj" fmla="val 8824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734056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逻辑层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734056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拦截战状态机 · 拆解计分 · 对抗判定公式 · 自由撰写规则引擎 · 五维能力模型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675888"/>
            <a:ext cx="7315200" cy="932688"/>
          </a:xfrm>
          <a:prstGeom prst="roundRect">
            <a:avLst>
              <a:gd name="adj" fmla="val 8824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7947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 data.js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79476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个样本（含七类破绽标注）· 基因卡 · 波次编排 · 讲解文案——加题不改代码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736592"/>
            <a:ext cx="7315200" cy="932688"/>
          </a:xfrm>
          <a:prstGeom prst="roundRect">
            <a:avLst>
              <a:gd name="adj" fmla="val 8824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4855464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本地能力层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4855464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Web Speech 语音 · WebAudio 合成音效 · localStorage 存档 · Canvas 雷达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1554480"/>
            <a:ext cx="3593592" cy="4114800"/>
          </a:xfrm>
          <a:prstGeom prst="roundRect">
            <a:avLst>
              <a:gd name="adj" fmla="val 2290"/>
            </a:avLst>
          </a:prstGeom>
          <a:solidFill>
            <a:srgbClr val="0D1524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17556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54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后端化预留位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21040" y="2240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话术出口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56946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Officer 单一出口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换大模型流式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2104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判分引擎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21040" y="366674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对抗公式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服务端分类器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2104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固定题库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476402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波次队列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每日挑战生成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纯静态部署：任意托管零门槛 · 无构建链 · 无第三方运行时依赖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创新技术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创新技术 ①  统一拖拽交互引擎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0934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9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78408" y="1517904"/>
            <a:ext cx="5925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一套模型三处复用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拦截卡 / 拆解证物 / 基因卡共享同一 Pointer Events 拖拽模型，触屏与鼠标行为完全一致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2953512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8408" y="2862072"/>
            <a:ext cx="5925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指针坐标命中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槽位判定以指针落点为准（而非元素矩形），宽元素、快速拖放均不误判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4297680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78408" y="4206240"/>
            <a:ext cx="5925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过渡态治理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拖拽中禁用 transform 过渡（.dragging），根除“快速拖放丢判定”的经典缺陷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02920" y="5641848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5641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8408" y="5550408"/>
            <a:ext cx="5925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异常兜底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合成指针事件的 setPointerCapture 异常已捕获——自动化测试与真机两不误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315200" y="1554480"/>
            <a:ext cx="4370832" cy="4206240"/>
          </a:xfrm>
          <a:prstGeom prst="roundRect">
            <a:avLst>
              <a:gd name="adj" fmla="val 1957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1783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E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slotAtPoint(x, y, selector)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224028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[...document.querySelectorAll(sel)]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.find(s =&gt; {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b = s.getBoundingClientRect();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&gt; b.left &amp;&amp; x &lt; b.right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&amp;&amp; y &gt; b.top  &amp;&amp; y &lt; b.bottom;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589520" y="5029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命中即真理：手指在哪，就放在哪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创新技术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创新技术 ②  带噪声的非线性对抗判定引擎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0D1524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4592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检出率 = min(97, 5+技术 + 皮肤×(1−伪装度/160) + 心理×(0.55+激进度/90) + 投放量×0.12) + 噪声±7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89864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伪装度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874520" y="2999232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D1524"/>
          </a:solidFill>
          <a:ln w="9525">
            <a:solidFill>
              <a:srgbClr val="1C2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39512" y="2889504"/>
            <a:ext cx="329184" cy="329184"/>
          </a:xfrm>
          <a:prstGeom prst="ellipse">
            <a:avLst/>
          </a:prstGeom>
          <a:solidFill>
            <a:srgbClr val="35E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洗白“皮肤”类特征——措辞越自然越难被话术模型识别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3872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激进度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874520" y="3639312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D1524"/>
          </a:solidFill>
          <a:ln w="9525">
            <a:solidFill>
              <a:srgbClr val="1C2B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77640" y="3529584"/>
            <a:ext cx="329184" cy="329184"/>
          </a:xfrm>
          <a:prstGeom prst="ellipse">
            <a:avLst/>
          </a:prstGeom>
          <a:solidFill>
            <a:srgbClr val="35E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放大“心理”类特征——咄咄逼人等于自曝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1788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投放量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874520" y="4279392"/>
            <a:ext cx="4206240" cy="109728"/>
          </a:xfrm>
          <a:prstGeom prst="roundRect">
            <a:avLst>
              <a:gd name="adj" fmla="val 50000"/>
            </a:avLst>
          </a:prstGeom>
          <a:solidFill>
            <a:srgbClr val="0D1524"/>
          </a:solidFill>
          <a:ln w="9525">
            <a:solidFill>
              <a:srgbClr val="1C2B4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6392" y="4169664"/>
            <a:ext cx="329184" cy="329184"/>
          </a:xfrm>
          <a:prstGeom prst="ellipse">
            <a:avLst/>
          </a:prstGeom>
          <a:solidFill>
            <a:srgbClr val="35E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增加暴露面——样本群里总有防线的眼线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029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~63%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2880360" y="507492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预测仪 ±8 误差带：玩家只能估计检出率，无法穷举最优解；投放瞬间的噪声结算，让每一局都保留博弈张力。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创新技术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创新技术 ③  云端大模型智能体（DeepSeek）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5440680" cy="4297680"/>
          </a:xfrm>
          <a:prstGeom prst="roundRect">
            <a:avLst>
              <a:gd name="adj" fmla="val 1915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能力：任意遭遇 · 任意问法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2176272"/>
            <a:ext cx="4937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遭遇研判：四段式结论——判定/风险分 → 引用原话的可疑要素 → 剧本与下一步预测 → 96110 行动清单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自由问答：回答自动携带用户段位/五维/错题，个性化作答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SSE 流式打字机 + 语音播报，警官式人设 System Prompt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界面零配置：配置全部在后台 config.js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5074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已用团队 Key 真机接入并验证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422392" cy="4297680"/>
          </a:xfrm>
          <a:prstGeom prst="roundRect">
            <a:avLst>
              <a:gd name="adj" fmla="val 1915"/>
            </a:avLst>
          </a:prstGeom>
          <a:solidFill>
            <a:srgbClr val="111A2C"/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17190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工程保障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10528" y="2176272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deepseek-flash 低价档思考型模型，已适配思考 token（额度 2000 防截断）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混淆存储（XOR+Base64）：源码/截图零明文；对外分发包不含 Key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三层兜底：云端 → 离线规则引擎（七类要素×八剧本）→ 断网可用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 Key：tools/obscure_key.js 一条命令重新编码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10528" y="5074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演示永不掉链子：云端挂了自动回落，界面无感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创新技术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智能体实测：真模型 · 任意遭遇 · 当场判定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851392" y="1417320"/>
            <a:ext cx="2316196" cy="4608576"/>
          </a:xfrm>
          <a:prstGeom prst="roundRect">
            <a:avLst>
              <a:gd name="adj" fmla="val 4737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pic>
        <p:nvPicPr>
          <p:cNvPr id="7" name="Image 0" descr="D:/GYY/长春理工/学生竞赛/本科生竞赛/数媒竞赛_识渔计划/preview/agent-di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481328"/>
            <a:ext cx="218818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41080" y="6071616"/>
            <a:ext cx="2736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 DeepSeek 研判界面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481328"/>
            <a:ext cx="7635240" cy="2011680"/>
          </a:xfrm>
          <a:prstGeom prst="roundRect">
            <a:avLst>
              <a:gd name="adj" fmla="val 4091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2376" y="16002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测试案例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020824" y="1600200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“同学说内部渠道六折充话费，让我先转 200，付款后被拉黑”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22376" y="2203704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4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模型判定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020824" y="2203704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【高危 88/99】“内部六折话费”是典型诱饵，转账后被拉黑，基本认定诈骗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22376" y="280720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输出要点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020824" y="280720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引用原话逐条解释 → 虚假购物剧本 → 追回与报警行动清单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3694176"/>
            <a:ext cx="7635240" cy="2011680"/>
          </a:xfrm>
          <a:prstGeom prst="roundRect">
            <a:avLst>
              <a:gd name="adj" fmla="val 4091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2376" y="3813048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测试案例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020824" y="3813048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“我爸接到电话说社保卡被冒用，要把钱转到安全账户配合调查”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22376" y="441655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547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模型判定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020824" y="4416552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【高危 99/99】冒充公检法三件套：涉案恐吓+安全账户+限时配合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722376" y="5020056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输出要点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020824" y="5020056"/>
            <a:ext cx="6400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直接给出劝阻父亲的具体话术与 96110 提醒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效果验证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效果验证：前后测 + 五维风险画像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805672" y="1417320"/>
            <a:ext cx="2316196" cy="4608576"/>
          </a:xfrm>
          <a:prstGeom prst="roundRect">
            <a:avLst>
              <a:gd name="adj" fmla="val 4737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pic>
        <p:nvPicPr>
          <p:cNvPr id="7" name="Image 0" descr="D:/GYY/长春理工/学生竞赛/本科生竞赛/数媒竞赛_识渔计划/preview/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1481328"/>
            <a:ext cx="2188180" cy="448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0" y="6071616"/>
            <a:ext cx="27368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五维画像（内部试玩数据）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1737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E3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502920" y="2450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训练前 · 识别率（前测）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0" y="1737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 %</a:t>
            </a:r>
            <a:endParaRPr lang="en-US" sz="3400" dirty="0"/>
          </a:p>
        </p:txBody>
      </p:sp>
      <p:sp>
        <p:nvSpPr>
          <p:cNvPr id="14" name="Text 11"/>
          <p:cNvSpPr/>
          <p:nvPr/>
        </p:nvSpPr>
        <p:spPr>
          <a:xfrm>
            <a:off x="3200400" y="2450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训练后 · 识别率（后测）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897880" y="160020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97880" y="173736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维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5897880" y="2450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能力画像 + 个性化建议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3392424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3392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78408" y="3300984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评测方案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招募 20–30 名同学：前测 10 题 → 完成四波训练 → 后测 10 题（同难度不同题）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02920" y="4617720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617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78408" y="4526280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报告产出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识别率变化 · 五维雷达 · 常错破绽 TOP3 · 个性化建议——个人版与班级匿名汇总版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502920" y="5843016"/>
            <a:ext cx="310896" cy="310896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5843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78408" y="5751576"/>
            <a:ext cx="7662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当前状态　</a:t>
            </a:r>
            <a:pPr indent="0" marL="0"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全流程自动化回归已通过；正式前后测数据将于提交前填入（数据位已预留）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效果验证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创新点小结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3736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6824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攻防双视角训练法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83480" y="1682496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防守（拦截/拆解）与进攻（造浪者/自由撰写）闭环——在沙箱里从攻击者视角学会防守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670048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52928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00200" y="279806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证物化拆解交互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983480" y="2798064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把“圈出可疑”升级为“证物拖入类别槽”——归类动作本身就是知识结构化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85616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68496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00200" y="391363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带误差的连续对抗空间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983480" y="3913632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滑杆连续调参 × 非线性公式 × 噪声结算——不可穷举，每一局都有博弈张力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901184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84064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600200" y="50292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云端大模型智能体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983480" y="502920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任意遭遇研判+个性化问答 · DeepSeek flash · Key 混淆与三层兜底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应用与展望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应用与推广路径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校内落地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新生安全教育月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班级扫码演练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保卫处/辅导员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匿名汇总即报告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0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325112" y="16002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9432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课堂教学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99432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网安 / AI 素养课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互动教学具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拆解台=教具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画像=学情反馈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36992" y="283464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47304" y="1600200"/>
            <a:ext cx="3611880" cy="3017520"/>
          </a:xfrm>
          <a:prstGeom prst="roundRect">
            <a:avLst>
              <a:gd name="adj" fmla="val 272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1624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21624" y="2148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开放分发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421624" y="2697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静态托管零门槛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校园内网可离线部署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21624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开源分发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社区共建题库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29200"/>
            <a:ext cx="10634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后端化路线：</a:t>
            </a:r>
            <a:pPr indent="0" marL="0">
              <a:buNone/>
            </a:pPr>
            <a:r>
              <a:rPr lang="en-US" sz="13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大模型话术（安全官自由问答）· 分类器判分（可解释评测）· 每日挑战动态题库 · 班级看板——交互层零改动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应用与展望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协作的工程实践（对应申报书第七章）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人定架构与验收标准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783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64992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6276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大模型生成候选实现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71032" y="1783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27064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16276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人工评审后合入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33104" y="17830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089136" y="1554480"/>
            <a:ext cx="2606040" cy="914400"/>
          </a:xfrm>
          <a:prstGeom prst="roundRect">
            <a:avLst>
              <a:gd name="adj" fmla="val 9000"/>
            </a:avLst>
          </a:prstGeom>
          <a:solidFill>
            <a:srgbClr val="0D1524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26296" y="162763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浏览器自动化回归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2834640"/>
            <a:ext cx="5440680" cy="3017520"/>
          </a:xfrm>
          <a:prstGeom prst="roundRect">
            <a:avLst>
              <a:gd name="adj" fmla="val 2727"/>
            </a:avLst>
          </a:prstGeom>
          <a:solidFill>
            <a:srgbClr val="111A2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回归战绩（真实记录）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8952" y="3520440"/>
            <a:ext cx="4937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全流程自动化回归：四波分拣 / 拆解 10-10 归位 / 实验室投放 / 自由撰写 / 报告生成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人工修复 AI 初版 2 处交互缺陷：拖拽过渡丢判定 · 合成事件指针捕获异常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数据校验脚本：靶点存在性 / 队列有效性 / 维度覆盖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2834640"/>
            <a:ext cx="5422392" cy="3017520"/>
          </a:xfrm>
          <a:prstGeom prst="roundRect">
            <a:avLst>
              <a:gd name="adj" fmla="val 2727"/>
            </a:avLst>
          </a:prstGeom>
          <a:solidFill>
            <a:srgbClr val="111A2C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0358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边界声明（如实）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10528" y="352044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辅助范围：脚手架代码 / 样式片段 / 正则草案 / 文档初稿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 人工完成：玩法设计 · 样本与破绽标注 · 判定规则 · 全部文案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▸"/>
            </a:pPr>
            <a:r>
              <a:rPr lang="en-US" sz="125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AI 生成图像/音频素材（音效为程序合成）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应用与展望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团队与致谢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识渔计划 SHIYU · 答辩演示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588752" y="64739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 / 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457200" cy="457200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91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交互与玩法设计 · 前端逻辑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487168"/>
            <a:ext cx="457200" cy="457200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87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5328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数据与规则工程（样本/破绽/判定）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328416"/>
            <a:ext cx="457200" cy="457200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328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374136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视觉动效 · 合成音效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169664"/>
            <a:ext cx="457200" cy="457200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15384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文案评测 · 前后测组织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5010912"/>
            <a:ext cx="457200" cy="457200"/>
          </a:xfrm>
          <a:prstGeom prst="ellipse">
            <a:avLst/>
          </a:prstGeom>
          <a:solidFill>
            <a:srgbClr val="111A2C"/>
          </a:solidFill>
          <a:ln w="12700">
            <a:solidFill>
              <a:srgbClr val="35E0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5010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E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50566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3F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 · 演示视频 · 材料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52360" y="1600200"/>
            <a:ext cx="4233672" cy="4160520"/>
          </a:xfrm>
          <a:prstGeom prst="roundRect">
            <a:avLst>
              <a:gd name="adj" fmla="val 1978"/>
            </a:avLst>
          </a:prstGeom>
          <a:solidFill>
            <a:srgbClr val="0D1524"/>
          </a:solidFill>
          <a:ln w="15875">
            <a:solidFill>
              <a:srgbClr val="35E0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874520"/>
            <a:ext cx="4233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现场扫码 · 亲手上阵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92440" y="2468880"/>
            <a:ext cx="2103120" cy="2103120"/>
          </a:xfrm>
          <a:prstGeom prst="roundRect">
            <a:avLst>
              <a:gd name="adj" fmla="val 3478"/>
            </a:avLst>
          </a:prstGeom>
          <a:solidFill>
            <a:srgbClr val="0A0F1C"/>
          </a:solidFill>
          <a:ln w="12700">
            <a:solidFill>
              <a:srgbClr val="1C2B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4688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作品在线链接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二维码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（部署后替换）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4800600"/>
            <a:ext cx="3959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E8FA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本地演示亦可离线运行（零依赖）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02920" y="5897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E0C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不教结论，练肌肉记忆。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识渔计划 · 反钓鱼攻防训练营</dc:title>
  <dc:subject>PptxGenJS Presentation</dc:subject>
  <dc:creator>识渔计划团队</dc:creator>
  <cp:lastModifiedBy>识渔计划团队</cp:lastModifiedBy>
  <cp:revision>1</cp:revision>
  <dcterms:created xsi:type="dcterms:W3CDTF">2026-10-13T14:40:10Z</dcterms:created>
  <dcterms:modified xsi:type="dcterms:W3CDTF">2026-10-13T14:40:10Z</dcterms:modified>
</cp:coreProperties>
</file>